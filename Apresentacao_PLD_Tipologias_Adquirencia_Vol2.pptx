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9144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0" y="0"/>
            <a:ext cx="240487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09760" y="0"/>
            <a:ext cx="91440" cy="685800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12680" y="822960"/>
            <a:ext cx="164592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12680" y="1282960"/>
            <a:ext cx="274320" cy="9144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12680" y="1742960"/>
            <a:ext cx="384048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12680" y="2202960"/>
            <a:ext cx="493776" cy="9144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2680" y="2662960"/>
            <a:ext cx="603503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12680" y="3122960"/>
            <a:ext cx="164592" cy="9144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12680" y="3582960"/>
            <a:ext cx="27432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12680" y="4042960"/>
            <a:ext cx="384048" cy="9144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12680" y="4502960"/>
            <a:ext cx="493776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12680" y="4962960"/>
            <a:ext cx="603503" cy="9144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12680" y="5422960"/>
            <a:ext cx="164592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143000"/>
            <a:ext cx="85953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A90D2"/>
                </a:solidFill>
                <a:latin typeface="Calibri"/>
              </a:rPr>
              <a:t>APRESENTACAO EXECUTIVA  |  VOLUME II  |  COMPLIANCE - RISCOS - PLD/FT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828800"/>
            <a:ext cx="859536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100" b="1" i="0">
                <a:solidFill>
                  <a:srgbClr val="FFFFFF"/>
                </a:solidFill>
                <a:latin typeface="Calibri"/>
              </a:rPr>
              <a:t>Tipologias Especificas de Lavagem de Dinheiro e Financiamento do Terrorismo na Adquirencia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4A90D2"/>
                </a:solidFill>
                <a:latin typeface="Calibri"/>
              </a:rPr>
              <a:t>Descricao, Indicadores de Alerta, Impacto, Controles e Monitoramento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94960"/>
            <a:ext cx="85953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15 tipologias mapeadas para merchant acquirers, subcredenciadores, facilitadores de pagamento e marketplaces no Brasil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B4CE"/>
                </a:solidFill>
                <a:latin typeface="Calibri"/>
              </a:rPr>
              <a:t>Documento confidencial - uso interno  |  Comites Executivos e Auditoria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ROTEIRO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As 15 Tipologias Mapeadas para a Adquirencia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Cada tipologia e detalhada em um slide com descricao, indicadores de alerta, impacto na adquirente, controles e regras de monitoramento: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36301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713232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83080"/>
            <a:ext cx="713232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1837944"/>
            <a:ext cx="2734056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Laranjas e Empresas de Fachada/Ficticias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41064" y="1783080"/>
            <a:ext cx="146304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3672" y="1783080"/>
            <a:ext cx="36301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3672" y="1783080"/>
            <a:ext cx="713232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33672" y="1783080"/>
            <a:ext cx="713232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8344" y="1837944"/>
            <a:ext cx="2734056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Saque Disfarcado no Cartao de Credito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1783080"/>
            <a:ext cx="146304" cy="841248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1783080"/>
            <a:ext cx="36301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783080"/>
            <a:ext cx="713232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0144" y="1783080"/>
            <a:ext cx="713232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4816" y="1837944"/>
            <a:ext cx="2734056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BF Oculto em PayFac, Marketplace e Subcredenciador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94008" y="1783080"/>
            <a:ext cx="146304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743200"/>
            <a:ext cx="36301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2743200"/>
            <a:ext cx="713232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743200"/>
            <a:ext cx="713232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2798064"/>
            <a:ext cx="2734056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Desvio de Recursos Publicos (CPGF / Sem Licitacao)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41064" y="2743200"/>
            <a:ext cx="146304" cy="841248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33672" y="2743200"/>
            <a:ext cx="36301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33672" y="2743200"/>
            <a:ext cx="713232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33672" y="2743200"/>
            <a:ext cx="713232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38344" y="2798064"/>
            <a:ext cx="2734056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Financiamento ao Terrorismo, Extremismo e Crime Org.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17536" y="2743200"/>
            <a:ext cx="146304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10144" y="2743200"/>
            <a:ext cx="36301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0144" y="2743200"/>
            <a:ext cx="713232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0144" y="2743200"/>
            <a:ext cx="713232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14816" y="2798064"/>
            <a:ext cx="2734056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Fraudes Internas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94008" y="2743200"/>
            <a:ext cx="146304" cy="841248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3703320"/>
            <a:ext cx="36301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703320"/>
            <a:ext cx="713232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703320"/>
            <a:ext cx="713232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61872" y="3758184"/>
            <a:ext cx="2734056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Desvio de Recursos via ONGs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41064" y="3703320"/>
            <a:ext cx="146304" cy="841248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33672" y="3703320"/>
            <a:ext cx="36301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33672" y="3703320"/>
            <a:ext cx="713232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33672" y="3703320"/>
            <a:ext cx="713232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38344" y="3758184"/>
            <a:ext cx="2734056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Superfaturamento de Notas e Contratos de Licitacao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17536" y="3703320"/>
            <a:ext cx="146304" cy="841248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10144" y="3703320"/>
            <a:ext cx="36301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10144" y="3703320"/>
            <a:ext cx="713232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10144" y="3703320"/>
            <a:ext cx="713232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14816" y="3758184"/>
            <a:ext cx="2734056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Agiotagem e Autofinanciamento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494008" y="3703320"/>
            <a:ext cx="146304" cy="841248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4663440"/>
            <a:ext cx="36301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4663440"/>
            <a:ext cx="713232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663440"/>
            <a:ext cx="713232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61872" y="4718304"/>
            <a:ext cx="2734056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Fronteiras e Ramos de Atividade de Risco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41064" y="4663440"/>
            <a:ext cx="146304" cy="841248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33672" y="4663440"/>
            <a:ext cx="36301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33672" y="4663440"/>
            <a:ext cx="713232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33672" y="4663440"/>
            <a:ext cx="713232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38344" y="4718304"/>
            <a:ext cx="2734056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Comercializacao de Vouchers e Gift Cards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17536" y="4663440"/>
            <a:ext cx="146304" cy="8412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10144" y="4663440"/>
            <a:ext cx="36301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010144" y="4663440"/>
            <a:ext cx="713232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10144" y="4663440"/>
            <a:ext cx="713232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14816" y="4718304"/>
            <a:ext cx="2734056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Pagamento de Boletos por Terceiros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494008" y="4663440"/>
            <a:ext cx="146304" cy="841248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7200" y="5623560"/>
            <a:ext cx="36301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7200" y="5623560"/>
            <a:ext cx="713232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623560"/>
            <a:ext cx="713232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T13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61872" y="5678424"/>
            <a:ext cx="2734056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Jogos de Azar e Apostas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41064" y="5623560"/>
            <a:ext cx="146304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33672" y="5623560"/>
            <a:ext cx="36301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233672" y="5623560"/>
            <a:ext cx="713232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33672" y="5623560"/>
            <a:ext cx="713232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38344" y="5678424"/>
            <a:ext cx="2734056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Estruturas Societarias Complexas (BF Oculto)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717536" y="5623560"/>
            <a:ext cx="146304" cy="841248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10144" y="5623560"/>
            <a:ext cx="36301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10144" y="5623560"/>
            <a:ext cx="713232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10144" y="5623560"/>
            <a:ext cx="713232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14816" y="5678424"/>
            <a:ext cx="2734056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Contas de Passagem (Pass-through)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494008" y="5623560"/>
            <a:ext cx="146304" cy="841248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Uso de Laranjas, Empresas de Fachada e Ficticias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161288"/>
            <a:ext cx="1417320" cy="31089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PRIORIDADE: CRITICA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365992" cy="1024128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1365992" cy="36576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325880"/>
            <a:ext cx="111465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Descricao da tipologia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73736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A3A3A"/>
                </a:solidFill>
                <a:latin typeface="Calibri"/>
              </a:rPr>
              <a:t>Utilizacao de interpostas pessoas (laranjas) e de pessoas juridicas sem substancia economica real (empresas de fachada ou ficticias) para credenciar estabelecimentos comerciais e movimentar recursos ilicitos, ocultando o verdadeiro controlador e a origem dos valores.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5596128" cy="1810512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5596128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Indicadores de alerta (red flags)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Socio sem capacidade economica compativel com o volume processado.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Endereco inexistente, virtual ou compartilhado por varios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EC recem-aberto com faturamento elevado e sem presenca verificavel.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Conta de liquidacao em nome de terceiro diverso do titular do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Mesmo socio/BF vinculado a multiplos EC sem relacao operacional.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487168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487168"/>
            <a:ext cx="559612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Como a adquirente pode ser impactada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Credenciamento de EC inexistente usado para colocacao de recursos.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Rede de pagamentos utilizada como veiculo de lavagem.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Exposicao reputacional e sancionatoria perante BCB/COAF.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Aumento de chargeback e perdas associadas a EC de fachada.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16552"/>
            <a:ext cx="5596128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Controles preventivos e detectivos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KYB robusto e identificacao do beneficiario final.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Validacao cadastral, biometria e prova de vida no onboarding.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Geolocalizacao e visita ao estabelecimento para EC de risco.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Screening de socios, BF e midia adversa.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4416552"/>
            <a:ext cx="5596128" cy="3657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Regras de monitoramento sugeridas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Conta de liquidacao com CPF/CNPJ diferente do titular do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N+ EC com mesmo socio, endereco, telefone ou IP.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EC ativo ha menos de 90 dias com volume acima de R$ X.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Socio com flag de laranja em base interna/externa.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Desvio de Recursos via Emprestimo Irregular no Cartao de Credito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161288"/>
            <a:ext cx="1417320" cy="310896"/>
          </a:xfrm>
          <a:prstGeom prst="round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PRIORIDADE: ALTA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365992" cy="1024128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1365992" cy="36576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325880"/>
            <a:ext cx="111465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Descricao da tipologia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73736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A3A3A"/>
                </a:solidFill>
                <a:latin typeface="Calibri"/>
              </a:rPr>
              <a:t>Uso do estabelecimento para simular vendas e converter o limite do cartao de credito do portador em dinheiro (saque disfarcado / 'emprestimo' informal), normalmente mediante agio. Configura credito irregular, autofinanciamento e lavagem por meio da maquininha, sem entrega de mercadoria.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5596128" cy="1810512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5596128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Indicadores de alerta (red flags)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Transacoes de valores redondos sem lastro de mercadoria/servico.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Mesmo portador recorrente em um ou poucos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Ticket elevado e incompativel com o porte/MCC do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Excesso de parcelamentos e estornos atipicos.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EC que anuncia 'saque no cartao' ou 'dinheiro na hora'.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487168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487168"/>
            <a:ext cx="559612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Como a adquirente pode ser impactada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Rede usada para concessao de credito irregular a juros.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Aumento de inadimplencia, contestacao e chargeback.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Risco legal (agiotagem) e descumprimento de regras de bandeira.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Distorcao do perfil transacional e da carteira de EC.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16552"/>
            <a:ext cx="5596128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Controles preventivos e detectivos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Monitoramento de padrao de saque disfarcado (ticket x MCC).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Regras das bandeiras contra cash advance disfarcado.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Due diligence reforcada e limites por perfil de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Analise de recorrencia portador-estabelecimento.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4416552"/>
            <a:ext cx="5596128" cy="3657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Regras de monitoramento sugeridas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Alta proporcao de transacoes em valores redondos no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Recorrencia anomala do mesmo portador no mesmo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Ticket medio &gt; X em MCC incompativel com a faixa.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Pico de parcelamento + estorno na mesma janela.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Ocultacao de BF em PayFac Internacional, Marketplace e Subcredenciador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161288"/>
            <a:ext cx="1417320" cy="31089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PRIORIDADE: CRITICA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365992" cy="1024128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1365992" cy="36576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325880"/>
            <a:ext cx="111465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Descricao da tipologia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73736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A3A3A"/>
                </a:solidFill>
                <a:latin typeface="Calibri"/>
              </a:rPr>
              <a:t>Estruturas de facilitadores de pagamento internacionais, marketplaces e subcredenciadores agregam os estabelecimentos finais sob um unico relacionamento, reduzindo a visibilidade do EC e ocultando o beneficiario final por meio de nested merchants e fluxos transfronteiricos.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5596128" cy="1810512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5596128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Indicadores de alerta (red flags)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Recusa do parceiro em fornecer dados do EC final (look-through).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Sellers onboarded com diligencia minima e crescimento explosivo.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Alta dispersao de MCC e geografias sob um unico CNPJ/contrato.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Fluxo cross-border elevado e estruturas em offshore.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Chargeback e fraude concentrados em poucos sellers/EC.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487168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487168"/>
            <a:ext cx="559612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Como a adquirente pode ser impactada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EC final invisivel a adquirente (nested merchants).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Rede usada para transaction laundering por terceiros.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Exposicao a sancoes e a jurisdicoes de risco no cross-border.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Dificuldade de identificar o beneficiario final exigido por norma.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16552"/>
            <a:ext cx="5596128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Controles preventivos e detectivos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Due diligence reforcada do subcredenciador/PayFac/marketplace.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Exigencia contratual de KYC de seller e direito de look-through.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Avaliacao do programa de PLD/FT e do KYB do parceiro.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Identificacao do BF do EC final e screening da cadeia.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4416552"/>
            <a:ext cx="5596128" cy="3657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Regras de monitoramento sugeridas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Seller individual com volume/chargeback acima de limiar.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Fluxo cross-border &gt; X% do volume do parceiro.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Sellers compartilhando IP, conta de liquidacao ou BF.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Crescimento de sellers &gt; Y% sem reforco de diligencia.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Desvio de Recursos Publicos (Cartao Corporativo / Sem Licitacao)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161288"/>
            <a:ext cx="1417320" cy="310896"/>
          </a:xfrm>
          <a:prstGeom prst="round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PRIORIDADE: ALTA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365992" cy="1024128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1365992" cy="36576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325880"/>
            <a:ext cx="111465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Descricao da tipologia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73736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A3A3A"/>
                </a:solidFill>
                <a:latin typeface="Calibri"/>
              </a:rPr>
              <a:t>Uso de cartao de pagamento do governo (CPGF) ou de empresas contratadas sem licitacao (dispensa/fracionamento) para desviar recursos publicos por meio de estabelecimentos, frequentemente de fachada, vinculados a agentes publicos ou a fornecedores sem capacidade operacional.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5596128" cy="1810512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5596128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Indicadores de alerta (red flags)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EC recebendo de cartoes corporativos publicos com saques/valores atipicos.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Fornecedor sem estrutura compativel com os contratos firmados.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Concentracao de pagamentos publicos em poucos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Valores fracionados logo abaixo do limite de dispensa de licitacao.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Vinculo do EC/BF a agente publico ou a PEP.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487168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487168"/>
            <a:ext cx="559612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Como a adquirente pode ser impactada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EC de fachada inserido na rede para captar recursos publicos.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Associacao a corrupcao e desvio, com risco reputacional grave.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Exposicao a investigacoes de orgaos de controle.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Comunicacao obrigatoria de operacoes suspeitas ao COAF.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16552"/>
            <a:ext cx="5596128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Controles preventivos e detectivos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KYB e avaliacao de capacidade do fornecedor.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Identificacao de PEP e de vinculos com entes publicos.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Monitoramento especifico de cartoes corporativos/CPGF.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Midia adversa e screening reforcado.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4416552"/>
            <a:ext cx="5596128" cy="3657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Regras de monitoramento sugeridas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Padrao de saque ou de valores atipicos em CPGF.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Pagamentos recorrentes logo abaixo do limite de dispensa.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EC vinculado a PEP ou a ente publico contratante.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Concentracao de recebiveis de origem publica em poucos EC.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Financiamento de Grupos Extremistas, Criminosos e Terroristas (FT)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161288"/>
            <a:ext cx="1417320" cy="31089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PRIORIDADE: CRITICA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365992" cy="1024128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1365992" cy="36576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325880"/>
            <a:ext cx="111465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Descricao da tipologia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73736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A3A3A"/>
                </a:solidFill>
                <a:latin typeface="Calibri"/>
              </a:rPr>
              <a:t>Captacao, movimentacao e disponibilizacao de recursos a individuos e organizacoes terroristas, extremistas ou criminosas por meio de cartoes, doacoes e EC/ONG de fachada. Caracteriza-se por baixos valores, captacao difusa e nexo com listas de sancoes, exigindo bloqueio imediato de ativos.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5596128" cy="1810512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5596128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Indicadores de alerta (red flags)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Match de EC, socio, BF ou contraparte com listas de sancoes.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Doacoes pulverizadas de muitas origens para um mesmo EC/ONG.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Nexo geografico com zonas de conflito ou jurisdicoes de risco.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ONG/entidade sem transparencia de finalidade e destino.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Vendas simbolicas e baixos valores recorrentes.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487168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487168"/>
            <a:ext cx="559612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Como a adquirente pode ser impactada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Rede usada para arrecadar e repassar recursos a grupos alvo.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Obrigacao de indisponibilidade imediata de ativos (Lei 13.810/2019).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Risco penal, reputacional e de sancao regulatoria.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Comunicacao ao COAF independentemente do valor.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16552"/>
            <a:ext cx="5596128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Controles preventivos e detectivos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Screening de sancoes (CSNU/OFAC/UE/UK) continuo.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Identificacao de BF e da finalidade de ONG/NPO.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Due diligence reforcada para entidades de risco.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Processo de bloqueio imediato e reporte.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4416552"/>
            <a:ext cx="5596128" cy="3657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Regras de monitoramento sugeridas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Match em lista de sancoes/FT (qualquer valor).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N+ doacoes pulverizadas para EC/ONG em janela curta.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Transacoes com nexo a jurisdicao de conflito.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Beneficiario/keyword em watchlist de 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Ocultacao de Recursos Associada a Fraudes Internas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161288"/>
            <a:ext cx="1417320" cy="310896"/>
          </a:xfrm>
          <a:prstGeom prst="round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PRIORIDADE: ALTA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365992" cy="1024128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1365992" cy="36576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325880"/>
            <a:ext cx="111465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Descricao da tipologia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73736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A3A3A"/>
                </a:solidFill>
                <a:latin typeface="Calibri"/>
              </a:rPr>
              <a:t>Desvio de recursos por colaboradores, parceiros ou prestadores, com ocultacao por meio de credenciamentos manipulados, overrides indevidos de regras de risco, ajustes de liquidacao e EC vinculados a insiders, comprometendo a integridade dos controles da adquirente.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5596128" cy="1810512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5596128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Indicadores de alerta (red flags)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EC com BF, conta ou contato vinculado a colaborador/parceiro.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Overrides manuais frequentes de regras de risco/onboarding.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Alteracoes de conta de liquidacao realizadas por insiders.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Aprovacoes fora de alcada ou sem trilha de auditoria.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Acessos e ajustes em horarios e padroes atipicos.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487168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487168"/>
            <a:ext cx="559612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Como a adquirente pode ser impactada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Perdas financeiras diretas e fraude transacional.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Comprometimento da efetividade dos controles de PLD.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Risco reputacional e de conformidade.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Mascaramento de outras tipologias por agentes internos.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16552"/>
            <a:ext cx="5596128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Controles preventivos e detectivos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Segregacao de funcoes e principio dos quatro olhos.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Trilha de auditoria completa e imutavel.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KYC de colaborador e gestao de conflito de interesse.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Revisao periodica de overrides e excecoes.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4416552"/>
            <a:ext cx="5596128" cy="3657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Regras de monitoramento sugeridas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EC com BF/conta associada a colaborador (link analysis).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Override de regra de risco acima do baseline do operador.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Mudanca de conta de liquidacao sem dupla aprovacao.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Concentracao de excecoes por usuario/area.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Desvio de Recursos por meio de ONGs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161288"/>
            <a:ext cx="1417320" cy="310896"/>
          </a:xfrm>
          <a:prstGeom prst="round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PRIORIDADE: ALTA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365992" cy="1024128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1365992" cy="36576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325880"/>
            <a:ext cx="111465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Descricao da tipologia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73736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A3A3A"/>
                </a:solidFill>
                <a:latin typeface="Calibri"/>
              </a:rPr>
              <a:t>Organizacoes da sociedade civil, associacoes e fundacoes utilizadas para captar doacoes via cartao e desviar ou lavar recursos, valendo-se da baixa transparencia de finalidade e do tratamento de risco diferenciado conferido ao terceiro setor.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5596128" cy="1810512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5596128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Indicadores de alerta (red flags)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ONG com volume de doacoes incompativel com o porte/atuacao.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Doacoes pulverizadas e fluxo cross-border atipico.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Dirigentes/BF com flags, PEP ou midia adversa.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Finalidade generica e ausencia de prestacao de contas.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Picos de captacao sem campanha ou evento correspondente.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487168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487168"/>
            <a:ext cx="559612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Como a adquirente pode ser impactada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Rede usada para lavagem ou FT via terceiro setor.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Exposicao reputacional por associacao a entidade desviante.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Dificuldade de identificar o real destino dos recursos.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Comunicacao de operacoes suspeitas ao COAF.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16552"/>
            <a:ext cx="5596128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Controles preventivos e detectivos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KYB e due diligence reforcada de NPO.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Identificacao de dirigentes e do beneficiario final.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Screening de sancoes/PEP e analise de finalidade.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Acompanhamento de transparencia e prestacao de contas.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4416552"/>
            <a:ext cx="5596128" cy="3657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Regras de monitoramento sugeridas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Volume de doacoes acima do baseline da entidade.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Pulverizacao de doacoes em janela curta.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Nexo cross-border com jurisdicao de risco.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Dirigente/BF com flag de sancao ou midia adversa.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Superfaturamento de Notas e Contratos de Licitacao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161288"/>
            <a:ext cx="1417320" cy="310896"/>
          </a:xfrm>
          <a:prstGeom prst="round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PRIORIDADE: ALTA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365992" cy="1024128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1365992" cy="36576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325880"/>
            <a:ext cx="111465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Descricao da tipologia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73736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A3A3A"/>
                </a:solidFill>
                <a:latin typeface="Calibri"/>
              </a:rPr>
              <a:t>Emissao de notas fiscais e contratos com valores inflados (over-invoicing) para justificar a movimentacao e desviar recursos, modalidade de trade-based money laundering que pode transitar pela rede de adquirencia via cartao ou boleto, especialmente em contratacoes publicas.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5596128" cy="1810512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5596128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Indicadores de alerta (red flags)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Ticket muito acima do preco de mercado/referencia.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Notas e contratos sem lastro economico verificavel.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Concentracao de pagamentos entre o mesmo par comprador-EC.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Precos divergentes de tabelas de referencia (ex.: publicas).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Aditivos e reajustes sucessivos sem justificativa.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487168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487168"/>
            <a:ext cx="559612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Como a adquirente pode ser impactada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Pagamentos inflados transitando pela rede.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Lavagem por superfaturamento (TBML) via adquirencia.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Exposicao a investigacoes de fraude em licitacoes.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Risco reputacional e de conformidade.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16552"/>
            <a:ext cx="5596128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Controles preventivos e detectivos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Validacao de lastro e de nota fiscal.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Monitoramento de preco vs. referencia de mercado.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KYB e DDR para contratos publicos e grandes fornecedores.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Analise de concentracao comprador-fornecedor.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4416552"/>
            <a:ext cx="5596128" cy="3657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Regras de monitoramento sugeridas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Desvio de preco do EC vs. referencia/peer (&gt; X%).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Concentracao do par comprador-EC acima de limiar.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Ticket fora da faixa esperada do MCC.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Sequencia de aditivos elevando o valor pago.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Agiotagem e Autofinanciamento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161288"/>
            <a:ext cx="1417320" cy="310896"/>
          </a:xfrm>
          <a:prstGeom prst="round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PRIORIDADE: ALTA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365992" cy="1024128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1365992" cy="36576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325880"/>
            <a:ext cx="111465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Descricao da tipologia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73736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A3A3A"/>
                </a:solidFill>
                <a:latin typeface="Calibri"/>
              </a:rPr>
              <a:t>Uso da maquininha para conceder emprestimos informais a juros (agiotagem) ou para o proprio estabelecimento gerar liquidez de forma circular (autofinanciamento), por meio de autocompras com cartoes do socio/BF ou de laranjas, simulando faturamento.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5596128" cy="1810512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5596128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Indicadores de alerta (red flags)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Autocompras com cartoes do proprio socio/BF do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Transacoes circulares entre EC e portadores relacionados.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Recorrencia anomala do mesmo portador no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Tickets padronizados e faturamento sem operacao real.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Picos de venda seguidos de antecipacao integral.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487168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487168"/>
            <a:ext cx="559612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Como a adquirente pode ser impactada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Concessao de credito ilegal e liquidez artificial via rede.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Aumento de chargeback e de risco de credito.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Risco legal e descumprimento de regras de bandeira.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Distorcao do perfil de risco do EC.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16552"/>
            <a:ext cx="5596128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Controles preventivos e detectivos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Link analysis entre BF do EC e portadores.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Regras de deteccao de autocompra e circularidade.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Limites de processamento e reserva por risco.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Due diligence reforcada e analise de antecipacao.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4416552"/>
            <a:ext cx="5596128" cy="3657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Regras de monitoramento sugeridas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Cartao do portador = socio/BF do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Padrao circular de transacoes (mesmas partes).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Recorrencia portador-EC acima do baseline.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Pico de vendas + antecipacao integral em janela curta.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Ocultacao em Regiao de Fronteira ou Ramos de Atividade de Risco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161288"/>
            <a:ext cx="1417320" cy="310896"/>
          </a:xfrm>
          <a:prstGeom prst="round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PRIORIDADE: ALTA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365992" cy="1024128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1365992" cy="36576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325880"/>
            <a:ext cx="111465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Descricao da tipologia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73736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A3A3A"/>
                </a:solidFill>
                <a:latin typeface="Calibri"/>
              </a:rPr>
              <a:t>Estabelecimentos localizados em zonas de fronteira ou atuantes em ramos de alto risco (cambio informal, combustiveis, joias e metais, postos, casas de cambio, importados) utilizados para colocacao e ocultacao de recursos, muitas vezes ligados a contrabando, descaminho e cambio paralelo.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5596128" cy="1810512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5596128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Indicadores de alerta (red flags)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EC em faixa de fronteira com volume e ticket atipicos.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MCC de ramo de alto risco (cambio, joias, combustiveis).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Fluxo cross-border elevado e sazonalidade incompativel.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Pagamentos em especie/cartao desproporcionais a praca.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Estrutura de EC vinculada a importacao/exportacao opaca.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487168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487168"/>
            <a:ext cx="559612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Como a adquirente pode ser impactada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Rede usada para colocacao em pontos de maior vulnerabilidade.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Exposicao a contrabando, descaminho e cambio paralelo.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Risco geografico e setorial elevado.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Risco reputacional e de conformidade.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16552"/>
            <a:ext cx="5596128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Controles preventivos e detectivos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Triagem geografica e matriz de risco por regiao/MCC.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Due diligence reforcada para ramos de risco.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Geolocalizacao e visita ao estabelecimento.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Monitoramento setorial e de cross-border.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4416552"/>
            <a:ext cx="5596128" cy="3657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Regras de monitoramento sugeridas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EC em regiao de fronteira com volume &gt; X (outlier regional).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MCC de risco combinado a fluxo cross-border.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Ticket/volume fora do baseline da praca.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Sazonalidade incompativel com o ramo declarado.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T11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Desvio de Recursos por meio de Comercializacao de Vouchers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161288"/>
            <a:ext cx="1417320" cy="310896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PRIORIDADE: MEDIA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365992" cy="1024128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1365992" cy="36576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325880"/>
            <a:ext cx="111465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Descricao da tipologia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73736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A3A3A"/>
                </a:solidFill>
                <a:latin typeface="Calibri"/>
              </a:rPr>
              <a:t>Compra e revenda de vouchers, gift cards, recargas e creditos pre-pagos para converter e movimentar recursos ilicitos com baixa rastreabilidade, criando uma camada de layering de dificil reconstituicao da trilha financeira.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5596128" cy="1810512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5596128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Indicadores de alerta (red flags)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Compras elevadas e recorrentes de vouchers/gift cards.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Revenda e resgate por terceiros sem relacao aparente.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Tickets uniformes e em volumes atipicos.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EC de recarga/voucher com faturamento incompativel.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Padrao compra-resgate concentrado em curto intervalo.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487168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487168"/>
            <a:ext cx="559612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Como a adquirente pode ser impactada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Rede usada para layering por meio de instrumentos pre-pagos.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Baixa rastreabilidade do destino final dos recursos.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Exposicao a fraude e a uso indevido de creditos.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Risco reputacional e de conformidade.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16552"/>
            <a:ext cx="5596128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Controles preventivos e detectivos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Monitoramento de MCC de voucher/gift card/recarga.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Limites de compra e KYC reforcado.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Analise de padrao compra-resgate e de contrapartes.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Due diligence de EC emissor/revendedor.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4416552"/>
            <a:ext cx="5596128" cy="3657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Regras de monitoramento sugeridas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Volume de vouchers acima do baseline do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Padrao de compra e resgate por terceiros distintos.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Concentracao de tickets uniformes em janela curta.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EC de recarga com crescimento atipico de volume.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T12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Desvio de Recursos por Pagamento de Boletos por Terceiros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161288"/>
            <a:ext cx="1417320" cy="310896"/>
          </a:xfrm>
          <a:prstGeom prst="round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PRIORIDADE: ALTA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365992" cy="1024128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1365992" cy="36576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325880"/>
            <a:ext cx="111465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Descricao da tipologia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73736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A3A3A"/>
                </a:solidFill>
                <a:latin typeface="Calibri"/>
              </a:rPr>
              <a:t>Uso de estabelecimentos ou servicos para pagamento de boletos/contas de terceiros, criando contas de passagem que ofuscam a origem e o destino dos recursos e fragmentam a trilha financeira (layering).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5596128" cy="1810512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5596128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Indicadores de alerta (red flags)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Pagamentos de boletos sem relacao com a atividade do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Grande numero de beneficiarios distintos a partir de um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Valores fracionados e terceiros pagadores recorrentes.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Origem dos recursos diversa do beneficiario final.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Volume de pagamentos de contas incompativel com o porte.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487168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487168"/>
            <a:ext cx="559612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Como a adquirente pode ser impactada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Rede usada como conta de passagem (layering).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Ofuscacao da origem e destino dos recursos.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Dificuldade de reconstituir a trilha financeira.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Comunicacao de operacoes suspeitas ao COAF.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16552"/>
            <a:ext cx="5596128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Controles preventivos e detectivos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Monitoramento de pagamento de contas/boletos por terceiros.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KYC do pagador e do beneficiario quando aplicavel.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Limites e regras por finalidade e perfil.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Analise de rede de pagadores e beneficiarios.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4416552"/>
            <a:ext cx="5596128" cy="3657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Regras de monitoramento sugeridas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N+ boletos pagos a beneficiarios distintos por um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Origem do recurso diferente do beneficiario.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Fracionamento de pagamentos em janela curta.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Recorrencia de terceiros pagadores sem vinculo.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T13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Movimentacao de Recursos via Jogos de Azar ou Apostas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161288"/>
            <a:ext cx="1417320" cy="31089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PRIORIDADE: CRITICA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365992" cy="1024128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1365992" cy="36576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325880"/>
            <a:ext cx="111465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Descricao da tipologia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73736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A3A3A"/>
                </a:solidFill>
                <a:latin typeface="Calibri"/>
              </a:rPr>
              <a:t>Movimentacao de recursos ilicitos por meio de operadores de jogos de azar e apostas (legais e clandestinos), inclusive com MCC mascarado, gateways e fluxos cross-border, frequentemente associada a transaction laundering e a operadores sem licenca.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5596128" cy="1810512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5596128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Indicadores de alerta (red flags)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Soft descriptor ou URL com termos de aposta/jogo/'bet'.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Payouts (pagamentos a apostadores) atipicos e bidirecionais.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MCC incompativel com indicios de aposta/jogo.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Fluxo cross-border para operadores e gateways.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Operador sem licenca/autorizacao aplicavel.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487168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487168"/>
            <a:ext cx="559612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Como a adquirente pode ser impactada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Rede usada por operadores de apostas ilegais.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Transaction laundering e ocultacao de receitas de jogo.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Sancao das bandeiras (programas BRAM/VIRP).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Risco reputacional e regulatorio elevado.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16552"/>
            <a:ext cx="5596128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Controles preventivos e detectivos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KYB setorial e checagem de licenca/autorizacao.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Deteccao de keyword em descriptor/site/URL.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Monitoramento de payout e fluxo bidirecional.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Due diligence reforcada e politica por vertical.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4416552"/>
            <a:ext cx="5596128" cy="3657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Regras de monitoramento sugeridas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Keyword de aposta/jogo em descriptor ou URL.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Razao de payout/credito atipica para o MCC.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Fluxo a operador sem licenca ou cross-border de risco.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MCC declarado divergente do comportamento transacional.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T14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Ocultacao de Beneficiarios Finais por Estruturas Societarias Complexas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161288"/>
            <a:ext cx="1417320" cy="310896"/>
          </a:xfrm>
          <a:prstGeom prst="round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PRIORIDADE: ALTA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365992" cy="1024128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1365992" cy="36576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325880"/>
            <a:ext cx="111465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Descricao da tipologia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73736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A3A3A"/>
                </a:solidFill>
                <a:latin typeface="Calibri"/>
              </a:rPr>
              <a:t>Uso de camadas de holdings, sociedades de proposito especifico, socios pessoa juridica e veiculos em offshore para ocultar o beneficiario final do estabelecimento, dificultando a identificacao exigida pela regulacao e o screening da cadeia.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5596128" cy="1810512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5596128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Indicadores de alerta (red flags)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Cadeia societaria com multiplas camadas e/ou offshore.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Pessoa juridica controlando pessoa juridica em sequencia.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Beneficiario final nao identificavel ou inconclusivo.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Presenca de nominee directors/shareholders.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Jurisdicoes de sigilo e baixa transparencia na estrutura.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487168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487168"/>
            <a:ext cx="559612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Como a adquirente pode ser impactada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Beneficiario final oculto, com risco de nao conformidade.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Dificuldade de screening e de avaliacao de risco do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Veiculo para outras tipologias (fachada, FT, sancoes).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Risco reputacional e regulatorio.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16552"/>
            <a:ext cx="5596128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Controles preventivos e detectivos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Identificacao do BF ate a pessoa natural (look-through).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Analise e mapeamento da cadeia societaria.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Due diligence reforcada para estruturas opacas.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Screening de toda a cadeia de controle.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4416552"/>
            <a:ext cx="5596128" cy="3657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Regras de monitoramento sugeridas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Cadeia societaria com mais de N camadas.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Presenca de offshore/jurisdicao de sigilo na estrutura.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BF nao conclusivo apos diligencia padrao.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Reuso de mesma estrutura/agentes em multiplos EC.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T15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Uso de Contas de Passagem (Pass-through)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161288"/>
            <a:ext cx="1417320" cy="310896"/>
          </a:xfrm>
          <a:prstGeom prst="round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PRIORIDADE: ALTA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365992" cy="1024128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1365992" cy="36576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325880"/>
            <a:ext cx="111465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Descricao da tipologia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737360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A3A3A"/>
                </a:solidFill>
                <a:latin typeface="Calibri"/>
              </a:rPr>
              <a:t>Utilizacao de contas ou estabelecimentos de passagem para receber e repassar rapidamente recursos, sem retencao nem proposito economico real, fragmentando a trilha financeira e dificultando o rastreamento da origem e do destino (layering).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5596128" cy="1810512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5596128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Indicadores de alerta (red flags)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Entradas e saidas casadas em curtissimo intervalo.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Saldo recorrentemente proximo de zero (turnover alto).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Ausencia de atividade comercial real no EC.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Multiplas contrapartes de origem e destino (many-to-many).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C0392B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Volume incompativel com o porte e a finalidade declarada.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487168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487168"/>
            <a:ext cx="559612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487168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Como a adquirente pode ser impactada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Rede usada como camada de passagem para layering.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Dificuldade de rastrear origem e destino dos recursos.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Mascaramento de outras tipologias subjacentes.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Comunicacao de operacoes suspeitas ao COAF.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16552"/>
            <a:ext cx="5596128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Controles preventivos e detectivos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Monitoramento de fluxo entra-sai e proposito economico.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Analise de contrapartes e de rede de transacoes.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KYC/KYB e validacao de atividade real.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Holds e reservas por regra de risco.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416552"/>
            <a:ext cx="5596128" cy="181051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4416552"/>
            <a:ext cx="5596128" cy="3657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416552"/>
            <a:ext cx="537667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Regras de monitoramento sugeridas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28032"/>
            <a:ext cx="5340096" cy="13350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Razao saida/entrada proxima de 1 em janela curta.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Turnover elevado com saldo medio baixo.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Padrao many-to-many de contrapartes.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30" b="1">
                <a:solidFill>
                  <a:srgbClr val="2E75B6"/>
                </a:solidFill>
                <a:latin typeface="Calibri"/>
              </a:rPr>
              <a:t>• </a:t>
            </a:r>
            <a:r>
              <a:rPr sz="930" b="0">
                <a:solidFill>
                  <a:srgbClr val="3A3A3A"/>
                </a:solidFill>
                <a:latin typeface="Calibri"/>
              </a:rPr>
              <a:t>Ausencia de retencao e de margem operacional.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SINTESE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Matriz de Priorizacao e Vetor Principal de Controle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  |  Tipologias em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6480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280160"/>
          <a:ext cx="11365992" cy="5025771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731520"/>
                <a:gridCol w="4023360"/>
                <a:gridCol w="5120640"/>
                <a:gridCol w="1490472"/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Cod.</a:t>
                      </a:r>
                    </a:p>
                  </a:txBody>
                  <a:tcPr marL="64008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Tipologia</a:t>
                      </a:r>
                    </a:p>
                  </a:txBody>
                  <a:tcPr marL="64008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Vetor principal de deteccao</a:t>
                      </a:r>
                    </a:p>
                  </a:txBody>
                  <a:tcPr marL="64008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Prioridade</a:t>
                      </a:r>
                    </a:p>
                  </a:txBody>
                  <a:tcPr marL="64008" marR="54864" marT="18288" marB="18288" anchor="ctr">
                    <a:solidFill>
                      <a:srgbClr val="1F4E79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F4E79"/>
                          </a:solidFill>
                        </a:rPr>
                        <a:t>T1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3A3A3A"/>
                          </a:solidFill>
                        </a:rPr>
                        <a:t>Laranjas e empresas de fachada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3A3A3A"/>
                          </a:solidFill>
                          <a:latin typeface="Calibri"/>
                        </a:rPr>
                        <a:t>KYB + beneficiario final + conta de liquidacao x titular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0392B"/>
                          </a:solidFill>
                        </a:rPr>
                        <a:t>Critica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F4E79"/>
                          </a:solidFill>
                        </a:rPr>
                        <a:t>T2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3A3A3A"/>
                          </a:solidFill>
                        </a:rPr>
                        <a:t>Saque disfarcado no cartao de credito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3A3A3A"/>
                          </a:solidFill>
                          <a:latin typeface="Calibri"/>
                        </a:rPr>
                        <a:t>Padrao de valores redondos + recorrencia portador-EC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98A1B"/>
                          </a:solidFill>
                        </a:rPr>
                        <a:t>Alta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F4E79"/>
                          </a:solidFill>
                        </a:rPr>
                        <a:t>T3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3A3A3A"/>
                          </a:solidFill>
                        </a:rPr>
                        <a:t>BF oculto em PayFac/marketplace/subcred.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3A3A3A"/>
                          </a:solidFill>
                          <a:latin typeface="Calibri"/>
                        </a:rPr>
                        <a:t>Look-through + KYC de seller + monitoramento por parceiro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0392B"/>
                          </a:solidFill>
                        </a:rPr>
                        <a:t>Critica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F4E79"/>
                          </a:solidFill>
                        </a:rPr>
                        <a:t>T4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3A3A3A"/>
                          </a:solidFill>
                        </a:rPr>
                        <a:t>Desvio de recursos publicos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3A3A3A"/>
                          </a:solidFill>
                          <a:latin typeface="Calibri"/>
                        </a:rPr>
                        <a:t>PEP + monitoramento de CPGF + limites de dispensa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98A1B"/>
                          </a:solidFill>
                        </a:rPr>
                        <a:t>Alta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F4E79"/>
                          </a:solidFill>
                        </a:rPr>
                        <a:t>T5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3A3A3A"/>
                          </a:solidFill>
                        </a:rPr>
                        <a:t>Financiamento ao terrorismo/extremismo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3A3A3A"/>
                          </a:solidFill>
                          <a:latin typeface="Calibri"/>
                        </a:rPr>
                        <a:t>Screening de sancoes continuo + bloqueio imediato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0392B"/>
                          </a:solidFill>
                        </a:rPr>
                        <a:t>Critica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F4E79"/>
                          </a:solidFill>
                        </a:rPr>
                        <a:t>T6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3A3A3A"/>
                          </a:solidFill>
                        </a:rPr>
                        <a:t>Fraudes internas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3A3A3A"/>
                          </a:solidFill>
                          <a:latin typeface="Calibri"/>
                        </a:rPr>
                        <a:t>Segregacao de funcoes + trilha + revisao de overrides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98A1B"/>
                          </a:solidFill>
                        </a:rPr>
                        <a:t>Alta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F4E79"/>
                          </a:solidFill>
                        </a:rPr>
                        <a:t>T7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3A3A3A"/>
                          </a:solidFill>
                        </a:rPr>
                        <a:t>Desvio de recursos via ONGs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3A3A3A"/>
                          </a:solidFill>
                          <a:latin typeface="Calibri"/>
                        </a:rPr>
                        <a:t>DDR de NPO + BF + analise de finalidade/doacoes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98A1B"/>
                          </a:solidFill>
                        </a:rPr>
                        <a:t>Alta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F4E79"/>
                          </a:solidFill>
                        </a:rPr>
                        <a:t>T8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3A3A3A"/>
                          </a:solidFill>
                        </a:rPr>
                        <a:t>Superfaturamento de notas/licitacoes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3A3A3A"/>
                          </a:solidFill>
                          <a:latin typeface="Calibri"/>
                        </a:rPr>
                        <a:t>Preco vs. referencia + lastro de NF + concentracao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98A1B"/>
                          </a:solidFill>
                        </a:rPr>
                        <a:t>Alta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F4E79"/>
                          </a:solidFill>
                        </a:rPr>
                        <a:t>T9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3A3A3A"/>
                          </a:solidFill>
                        </a:rPr>
                        <a:t>Agiotagem e autofinanciamento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3A3A3A"/>
                          </a:solidFill>
                          <a:latin typeface="Calibri"/>
                        </a:rPr>
                        <a:t>Link analysis BF-portador + autocompra/circularidade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98A1B"/>
                          </a:solidFill>
                        </a:rPr>
                        <a:t>Alta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F4E79"/>
                          </a:solidFill>
                        </a:rPr>
                        <a:t>T10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3A3A3A"/>
                          </a:solidFill>
                        </a:rPr>
                        <a:t>Fronteiras e ramos de risco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3A3A3A"/>
                          </a:solidFill>
                          <a:latin typeface="Calibri"/>
                        </a:rPr>
                        <a:t>Triagem geografica/setorial + cross-border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98A1B"/>
                          </a:solidFill>
                        </a:rPr>
                        <a:t>Alta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F4E79"/>
                          </a:solidFill>
                        </a:rPr>
                        <a:t>T11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3A3A3A"/>
                          </a:solidFill>
                        </a:rPr>
                        <a:t>Comercializacao de vouchers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3A3A3A"/>
                          </a:solidFill>
                          <a:latin typeface="Calibri"/>
                        </a:rPr>
                        <a:t>MCC de voucher + padrao compra-resgate + limites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2E75B6"/>
                          </a:solidFill>
                        </a:rPr>
                        <a:t>Media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F4E79"/>
                          </a:solidFill>
                        </a:rPr>
                        <a:t>T12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3A3A3A"/>
                          </a:solidFill>
                        </a:rPr>
                        <a:t>Pagamento de boletos por terceiros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3A3A3A"/>
                          </a:solidFill>
                          <a:latin typeface="Calibri"/>
                        </a:rPr>
                        <a:t>Rede de pagadores/beneficiarios + fracionamento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98A1B"/>
                          </a:solidFill>
                        </a:rPr>
                        <a:t>Alta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F4E79"/>
                          </a:solidFill>
                        </a:rPr>
                        <a:t>T13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3A3A3A"/>
                          </a:solidFill>
                        </a:rPr>
                        <a:t>Jogos de azar e apostas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3A3A3A"/>
                          </a:solidFill>
                          <a:latin typeface="Calibri"/>
                        </a:rPr>
                        <a:t>Keyword descriptor/URL + payout + licenca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0392B"/>
                          </a:solidFill>
                        </a:rPr>
                        <a:t>Critica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F4E79"/>
                          </a:solidFill>
                        </a:rPr>
                        <a:t>T14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3A3A3A"/>
                          </a:solidFill>
                        </a:rPr>
                        <a:t>Estruturas societarias complexas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3A3A3A"/>
                          </a:solidFill>
                          <a:latin typeface="Calibri"/>
                        </a:rPr>
                        <a:t>Look-through da cadeia + screening + DDR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98A1B"/>
                          </a:solidFill>
                        </a:rPr>
                        <a:t>Alta</a:t>
                      </a:r>
                    </a:p>
                  </a:txBody>
                  <a:tcPr marL="64008" marR="54864" marT="18288" marB="18288" anchor="ctr">
                    <a:solidFill>
                      <a:srgbClr val="EAF2FB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F4E79"/>
                          </a:solidFill>
                        </a:rPr>
                        <a:t>T15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3A3A3A"/>
                          </a:solidFill>
                        </a:rPr>
                        <a:t>Contas de passagem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3A3A3A"/>
                          </a:solidFill>
                          <a:latin typeface="Calibri"/>
                        </a:rPr>
                        <a:t>Fluxo entra-sai + turnover/saldo + many-to-many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98A1B"/>
                          </a:solidFill>
                        </a:rPr>
                        <a:t>Alta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240487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09760" y="0"/>
            <a:ext cx="91440" cy="685800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8503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A90D2"/>
                </a:solidFill>
                <a:latin typeface="Calibri"/>
              </a:rPr>
              <a:t>Mensagem-chave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As 15 tipologias compartilham vetores comuns de controle: identificacao do beneficiario final, KYC/KYB, screening de sancoes e monitoramento transacional calibrado por risco.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85039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6E4F0"/>
                </a:solidFill>
                <a:latin typeface="Calibri"/>
              </a:rPr>
              <a:t>A priorizacao por risco (critica/alta/media) orienta a alocacao de esforco da esteira de prevencao, com governanca de tuning, trilha de auditoria e comunicacao tempestiva ao COAF, em linha com a Circular BCB 3.978/2020 e as recomendacoes do GAFI/FATF.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8503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B4CE"/>
                </a:solidFill>
                <a:latin typeface="Calibri"/>
              </a:rPr>
              <a:t>Documento confidencial - uso interno  |  Compliance, Riscos e PLD/FT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