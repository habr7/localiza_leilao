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3B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93820" y="0"/>
            <a:ext cx="38100" cy="6858000"/>
          </a:xfrm>
          <a:prstGeom prst="rect">
            <a:avLst/>
          </a:prstGeom>
          <a:solidFill>
            <a:srgbClr val="C49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3108960" cy="20116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C49A44"/>
                </a:solidFill>
                <a:latin typeface="Georgia"/>
              </a:rPr>
              <a:t>BARBACOA</a:t>
            </a:r>
          </a:p>
          <a:p>
            <a:pPr algn="l">
              <a:spcAft>
                <a:spcPts val="1400"/>
              </a:spcAft>
            </a:pPr>
            <a:r>
              <a:rPr sz="1300" b="1" i="0">
                <a:solidFill>
                  <a:srgbClr val="E6C87A"/>
                </a:solidFill>
                <a:latin typeface="Georgia"/>
              </a:rPr>
              <a:t>C H U R R A S C A R I A</a:t>
            </a:r>
          </a:p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F7F2E9"/>
                </a:solidFill>
                <a:latin typeface="Georgia"/>
              </a:rPr>
              <a:t>Steakhouse premium</a:t>
            </a:r>
          </a:p>
          <a:p>
            <a:pPr algn="l"/>
            <a:r>
              <a:rPr sz="1300" b="0" i="0">
                <a:solidFill>
                  <a:srgbClr val="BDB3A4"/>
                </a:solidFill>
                <a:latin typeface="Georgia"/>
              </a:rPr>
              <a:t>São Paulo · desde 1990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88920"/>
            <a:ext cx="3017520" cy="25400"/>
          </a:xfrm>
          <a:prstGeom prst="rect">
            <a:avLst/>
          </a:prstGeom>
          <a:solidFill>
            <a:srgbClr val="C49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3108960" cy="3474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C49A44"/>
                </a:solidFill>
                <a:latin typeface="Georgia"/>
              </a:rPr>
              <a:t>POR QUE SOMOS REFERÊNCIA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F7F2E9"/>
                </a:solidFill>
                <a:latin typeface="Georgia"/>
              </a:rPr>
              <a:t>★  Tradição de mais de 30 anos no alto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F7F2E9"/>
                </a:solidFill>
                <a:latin typeface="Georgia"/>
              </a:rPr>
              <a:t>     padrão da gastronomia paulistana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F7F2E9"/>
                </a:solidFill>
                <a:latin typeface="Georgia"/>
              </a:rPr>
              <a:t>★  Endereços nobres: Itaim Bibi,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F7F2E9"/>
                </a:solidFill>
                <a:latin typeface="Georgia"/>
              </a:rPr>
              <a:t>     Jardins e Morumbi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F7F2E9"/>
                </a:solidFill>
                <a:latin typeface="Georgia"/>
              </a:rPr>
              <a:t>★  Marca brasileira reconhecida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F7F2E9"/>
                </a:solidFill>
                <a:latin typeface="Georgia"/>
              </a:rPr>
              <a:t>     internacionalmente (Tóquio)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F7F2E9"/>
                </a:solidFill>
                <a:latin typeface="Georgia"/>
              </a:rPr>
              <a:t>★  Experiência completa: do corte</a:t>
            </a:r>
          </a:p>
          <a:p>
            <a:pPr algn="l"/>
            <a:r>
              <a:rPr sz="1350" b="0" i="0">
                <a:solidFill>
                  <a:srgbClr val="F7F2E9"/>
                </a:solidFill>
                <a:latin typeface="Georgia"/>
              </a:rPr>
              <a:t>     nobre ao serviço impecável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502920"/>
            <a:ext cx="7253935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C49A44"/>
                </a:solidFill>
                <a:latin typeface="Georgia"/>
              </a:rPr>
              <a:t>O DIFERENCIAL BARBACOA</a:t>
            </a:r>
          </a:p>
          <a:p>
            <a:pPr algn="l"/>
            <a:r>
              <a:rPr sz="1400" b="0" i="1">
                <a:solidFill>
                  <a:srgbClr val="BDB3A4"/>
                </a:solidFill>
                <a:latin typeface="Georgia"/>
              </a:rPr>
              <a:t>A melhor experiência de churrascaria em São Paulo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783080"/>
            <a:ext cx="3444087" cy="1874519"/>
          </a:xfrm>
          <a:prstGeom prst="rect">
            <a:avLst/>
          </a:prstGeom>
          <a:solidFill>
            <a:srgbClr val="3B291E"/>
          </a:solidFill>
          <a:ln w="12700">
            <a:solidFill>
              <a:srgbClr val="C49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783080"/>
            <a:ext cx="3444087" cy="50800"/>
          </a:xfrm>
          <a:prstGeom prst="rect">
            <a:avLst/>
          </a:prstGeom>
          <a:solidFill>
            <a:srgbClr val="C49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011680"/>
            <a:ext cx="3041751" cy="1508759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6C87A"/>
                </a:solidFill>
                <a:latin typeface="Georgia"/>
              </a:rPr>
              <a:t>CARNES NOBRES &amp; MATURAÇÃO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7F2E9"/>
                </a:solidFill>
                <a:latin typeface="Georgia"/>
              </a:rPr>
              <a:t>Cortes premium selecionados e maturados com rigor, assados na brasa no ponto perfeito por mestres churrasqueiros.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4687" y="1783080"/>
            <a:ext cx="3444087" cy="1874519"/>
          </a:xfrm>
          <a:prstGeom prst="rect">
            <a:avLst/>
          </a:prstGeom>
          <a:solidFill>
            <a:srgbClr val="3B291E"/>
          </a:solidFill>
          <a:ln w="12700">
            <a:solidFill>
              <a:srgbClr val="C49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4687" y="1783080"/>
            <a:ext cx="3444087" cy="50800"/>
          </a:xfrm>
          <a:prstGeom prst="rect">
            <a:avLst/>
          </a:prstGeom>
          <a:solidFill>
            <a:srgbClr val="C49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5855" y="2011680"/>
            <a:ext cx="3041751" cy="1508759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6C87A"/>
                </a:solidFill>
                <a:latin typeface="Georgia"/>
              </a:rPr>
              <a:t>RODÍZIO DE ALTO PADRÃO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7F2E9"/>
                </a:solidFill>
                <a:latin typeface="Georgia"/>
              </a:rPr>
              <a:t>Variedade contínua de cortes servidos à mesa, no seu ritmo, com qualidade constante do primeiro ao último.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977639"/>
            <a:ext cx="3444087" cy="1874519"/>
          </a:xfrm>
          <a:prstGeom prst="rect">
            <a:avLst/>
          </a:prstGeom>
          <a:solidFill>
            <a:srgbClr val="3B291E"/>
          </a:solidFill>
          <a:ln w="12700">
            <a:solidFill>
              <a:srgbClr val="C49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977639"/>
            <a:ext cx="3444087" cy="50800"/>
          </a:xfrm>
          <a:prstGeom prst="rect">
            <a:avLst/>
          </a:prstGeom>
          <a:solidFill>
            <a:srgbClr val="C49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4206239"/>
            <a:ext cx="3041751" cy="1508759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6C87A"/>
                </a:solidFill>
                <a:latin typeface="Georgia"/>
              </a:rPr>
              <a:t>BUFFET GOURMET COMPLETO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7F2E9"/>
                </a:solidFill>
                <a:latin typeface="Georgia"/>
              </a:rPr>
              <a:t>Ilha de saladas, frutos do mar, pratos quentes e queijos finos — uma curadoria que vai muito além do churrasco.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4687" y="3977639"/>
            <a:ext cx="3444087" cy="1874519"/>
          </a:xfrm>
          <a:prstGeom prst="rect">
            <a:avLst/>
          </a:prstGeom>
          <a:solidFill>
            <a:srgbClr val="3B291E"/>
          </a:solidFill>
          <a:ln w="12700">
            <a:solidFill>
              <a:srgbClr val="C49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44687" y="3977639"/>
            <a:ext cx="3444087" cy="50800"/>
          </a:xfrm>
          <a:prstGeom prst="rect">
            <a:avLst/>
          </a:prstGeom>
          <a:solidFill>
            <a:srgbClr val="C49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5855" y="4206239"/>
            <a:ext cx="3041751" cy="1508759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6C87A"/>
                </a:solidFill>
                <a:latin typeface="Georgia"/>
              </a:rPr>
              <a:t>AMBIENTE &amp; SERVIÇO PREMIUM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7F2E9"/>
                </a:solidFill>
                <a:latin typeface="Georgia"/>
              </a:rPr>
              <a:t>Salão sofisticado e atendimento atencioso para negócios, celebrações e ocasiões especiais no coração de SP.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6172200"/>
            <a:ext cx="7253935" cy="457200"/>
          </a:xfrm>
          <a:prstGeom prst="rect">
            <a:avLst/>
          </a:prstGeom>
          <a:solidFill>
            <a:srgbClr val="6E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6199632"/>
            <a:ext cx="6796735" cy="40233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300" b="1" i="1">
                <a:solidFill>
                  <a:srgbClr val="E6C87A"/>
                </a:solidFill>
                <a:latin typeface="Georgia"/>
              </a:rPr>
              <a:t>Tradição, qualidade e sofisticação em cada experiência.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