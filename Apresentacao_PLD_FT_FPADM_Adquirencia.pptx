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"/>
            <a:ext cx="0" cy="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56032"/>
            <a:ext cx="0" cy="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56032"/>
            <a:ext cx="0" cy="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0"/>
            <a:ext cx="91440" cy="685800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12680" y="822960"/>
            <a:ext cx="164592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2680" y="1282960"/>
            <a:ext cx="274320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12680" y="1742960"/>
            <a:ext cx="384048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2680" y="2202960"/>
            <a:ext cx="493776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2662960"/>
            <a:ext cx="603503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12680" y="3122960"/>
            <a:ext cx="164592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12680" y="3582960"/>
            <a:ext cx="27432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12680" y="4042960"/>
            <a:ext cx="384048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12680" y="4502960"/>
            <a:ext cx="493776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12680" y="4962960"/>
            <a:ext cx="603503" cy="9144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5422960"/>
            <a:ext cx="164592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097280"/>
            <a:ext cx="85953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90D2"/>
                </a:solidFill>
                <a:latin typeface="Calibri"/>
              </a:rPr>
              <a:t>APRESENTACAO EXECUTIVA  |  COMPLIANCE - RISCOS - PLD/FT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783080"/>
            <a:ext cx="859536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Principais Topologias e Cenarios de Lavagem de Dinheiro, Financiamento do Terrorismo e Proliferacao de Armas de Destruicao em Massa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em Adquirentes no Brasil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8595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Mapeamento de riscos, tipologias AML/CFT, red flags, controles preventivos e detectivos e regras de monitoramento transacional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90D2"/>
                </a:solidFill>
                <a:latin typeface="Calibri"/>
              </a:rPr>
              <a:t>Merchant Acquirer  -  Subadquirentes  -  Facilitadores de Pagamento  -  Marketplaces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B4CE"/>
                </a:solidFill>
                <a:latin typeface="Calibri"/>
              </a:rPr>
              <a:t>Documento confidencial - uso interno  |  Comites Executivos e Auditoria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FUNDAMENTOS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Contexto Regulatorio e Abordagem Baseada em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611880" cy="2331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6118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71600"/>
            <a:ext cx="339242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Marco Legal Nacional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810512"/>
            <a:ext cx="3355848" cy="1819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Lei 9.613/1998 - tipifica lavagem de dinheiro; cria o COAF e o dever de comunicacao de operacoes suspeitas (atualizada pela Lei 12.683/2012).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Lei 13.260/2016 - tipifica o terrorismo e seu financiamento (FT).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Lei 13.810/2019 - cumprimento de sancoes do CSNU e indisponibilidade imediata de ativos (FT/FPADM).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Lei 12.846/2013 e LGPD (13.709/2018) como vetores correlatos de integridade e tratamento de dados.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611880" cy="2331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61188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371600"/>
            <a:ext cx="339242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Regulacao do Banco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1810512"/>
            <a:ext cx="3355848" cy="1819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Circular BCB 3.978/2020 - politica de PLD/FT, ABR, KYC, monitoramento, selecao, analise e comunicacao de operacoes.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Resolucao BCB 119/2021 - estende deveres de FT/FPADM e sancoes.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Res. Conj. 6/2023 - troca de informacoes para prevencao a fraudes.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Arranjos de pagamento: Lei 12.865/2012 e Resolucoes BCB 80/150 (instituicoes de pagamento, credenciadoras e subcredenciadoras).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611880" cy="2331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611880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371600"/>
            <a:ext cx="339242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Padroes Internacionais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810512"/>
            <a:ext cx="3355848" cy="1819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40 Recomendacoes do GAFI/FATF, com enfase na R.1 (ABR), R.10-12 (CDD/PEP), R.16 (travel rule) e R.20 (STR).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Listas de sancoes: CSNU, OFAC, UE, Reino Unido.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Padroes das bandeiras (Visa VIRP / Mastercard BRAM) para transaction laundering e merchants de risco.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0">
                <a:solidFill>
                  <a:srgbClr val="3A3A3A"/>
                </a:solidFill>
                <a:latin typeface="Calibri"/>
              </a:rPr>
              <a:t>Guidance FATF para o setor de meios de pagamento e novos modelos de negocio.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39"/>
            <a:ext cx="11365992" cy="21031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977639"/>
            <a:ext cx="11365992" cy="41148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39"/>
            <a:ext cx="10972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ABORDAGEM BASEADA EM RISCO (ABR) - PILAR ESTRUTURANTE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4526279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" y="4526279"/>
            <a:ext cx="91440" cy="14173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17719"/>
            <a:ext cx="24231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1. Avaliacao Interna de Risco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Mapear produtos, clientes, canais e geografias; classificar EC por MCC, porte e historico.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8416" y="4526279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28416" y="4526279"/>
            <a:ext cx="91440" cy="14173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617719"/>
            <a:ext cx="24231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2. Politicas e Governanca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Diretoria responsavel, AIR documentada, segregacao de funcoes, treinamento e avaliacao de efetividade.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4526279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35624" y="4526279"/>
            <a:ext cx="91440" cy="14173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4617719"/>
            <a:ext cx="24231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3. Controles Proporcionais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Intensidade de KYC/KYB, DDR e monitoramento calibrados ao risco do estabelecimento.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42832" y="4526279"/>
            <a:ext cx="267004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42832" y="4526279"/>
            <a:ext cx="91440" cy="14173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4617719"/>
            <a:ext cx="24231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4. Monitoramento Continuo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Reavaliacao de risco, monitoramento transacional, selecao, analise e comunicacao ao COAF.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ECOSSISTEMA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Cadeia da Adquirencia e Pontos Vulneraveis para AML/CFT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481328" cy="8686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Portador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Cardholder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0072" y="1691640"/>
            <a:ext cx="1481328" cy="8686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Estab. Comercial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Merchant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2944" y="1691640"/>
            <a:ext cx="1481328" cy="868680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Subadquirente / Facilitador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Sub / PayFac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85816" y="1691640"/>
            <a:ext cx="1481328" cy="8686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Gateway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Captura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8688" y="1691640"/>
            <a:ext cx="1481328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PSP / Adquirente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Credenciadora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71560" y="1691640"/>
            <a:ext cx="1481328" cy="8686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Bandeiras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Schemes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14432" y="1691640"/>
            <a:ext cx="1481328" cy="8686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Banco Liquidante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Settlement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38528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81400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24272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67144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10016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52888.0" y="2125980.0"/>
            <a:ext cx="161544.0" cy="0.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260604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2E75B6"/>
                </a:solidFill>
                <a:latin typeface="Calibri"/>
              </a:rPr>
              <a:t>Fluxo de autorizacao, captura, compensacao e liquidacao financeira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46120"/>
            <a:ext cx="1138428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109728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PONTOS VULNERAVEIS PARA LAVAGEM DE DINHEIRO E FT/FPADM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4904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4904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81304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Onboarding de 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KYB fragil, laranjas e beneficiario final oculto; merchants fantasma.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39" y="374904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39" y="374904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1" y="381304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Subadquirencia / PayFac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Visibilidade reduzida do EC final; agregacao de risco e MCC mascarado.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0998" y="374904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0998" y="374904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0" y="381304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Marketplaces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Sellers de baixa diligencia; transaction laundering e produtos ilicitos.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93776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93776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00176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Liquidacao / Cash-out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Antecipacao de recebiveis e contas de destino diversas do titular.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39" y="493776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39" y="493776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1" y="500176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MCC e classificacao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Miscoding para esconder ramo de alto risco (apostas, cripto, adulto).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998" y="4937760"/>
            <a:ext cx="3675887" cy="107899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0998" y="4937760"/>
            <a:ext cx="82296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0" y="5001768"/>
            <a:ext cx="3401567" cy="950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Cross-border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Pagamentos internacionais e exposicao a jurisdicoes e sancoes.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ROTEIRO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Tipologias Priorizadas para Adquirentes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A3A3A"/>
                </a:solidFill>
                <a:latin typeface="Calibri"/>
              </a:rPr>
              <a:t>Priorizacao de riscos especificos de adquirentes, subadquirentes, facilitadores de pagamento e marketplaces: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965959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Transaction Laundering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Processamento de vendas ilicitas por merchant aparentemente legitimo.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874519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874519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1874519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59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Bust-out &amp; Fraude de Chargeback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EC inflaciona volume e desaparece antes da liquidacao/contestacao.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874519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874519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1874519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1965959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MCC Miscoding &amp; Factoring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Mascaramento de ramo e processamento de terceiros (4a parte).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99815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99815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99815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191255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Structuring / Smurfing em POS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Fracionamento de valores para evadir thresholds e monitoramento.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3099815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33672" y="3099815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3672" y="3099815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191255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Merchants Fantasma &amp; Laranjas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EC de fachada, beneficiario final oculto e contas de passagem.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0144" y="3099815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3099815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3099815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3191255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Subadquirentes &amp; Marketplaces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Agregacao que obscurece o EC final e o seller de alto risco.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25111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25111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25111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416551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Front Companies de Alto Risco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Apostas ilegais, cripto, esquemas de investimento e adulto.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3672" y="4325111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33672" y="4325111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33672" y="4325111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416551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Financiamento do Terrorismo (FT)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Baixos valores, NPO, captacao difusa e contas-funil.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0144" y="4325111"/>
            <a:ext cx="36301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0144" y="4325111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0144" y="4325111"/>
            <a:ext cx="777240" cy="10789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7112" y="4416551"/>
            <a:ext cx="2624328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FPADM &amp; Evasao de Sancoes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30" b="0" i="0">
                <a:solidFill>
                  <a:srgbClr val="3A3A3A"/>
                </a:solidFill>
                <a:latin typeface="Calibri"/>
              </a:rPr>
              <a:t>Burla a listas do CSNU/OFAC e dual-use goods via cartoes.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Transaction Laundering (Lavagem Transacional via Merchant)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Modalidade de merchant-based laundering na qual um estabelecimento comercial regularmente credenciado processa transacoes de cartao referentes a vendas de um negocio ilicito ou nao declarado (drogas, armas, fraude, conteudo proibido), 'emprestando' seu MID. Tambem chamado de transaction laundering, factoring ou pass-through processing.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EC legitimo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Recebe vendas
de terceiro ilicito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Processa no
MID proprio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Liquidacao
limpa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Merchant legitimo aceita processar vendas de um 'merchant invisivel' nao credenciado.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URLs/checkout ocultos redirecionam pagamentos para o MID emprestado.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PayFac/marketplace sem visibilidade do EC final permite o repasse.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Funnel accounts agregam recebiveis de multiplos sites ilicitos.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Caso eNom/RG (EUA) e investigacoes da Visa: redes de transaction laundering processaram vendas de drogas e produtos ilegais por MIDs de e-commerce legitimos, movimentando centenas de milhoes de dolares antes da deteccao por content matching.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Volume e ticket incompativeis com o MCC, o porte e a localizacao do EC.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Trafego de IP/dispositivo e BIN de cartoes inconsistentes com o publico esperado.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Picos de venda noturna, cross-border anormal e produtos genericos.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URLs do site sem correspondencia com o produto declarado; conteudo oculto.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Multiplos EC com mesmo IP, conta de liquidacao, telefone ou beneficiario final.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KYB robusto com verificacao de site, produto e URL real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Validacao de MCC e teste de compra (mystery shopping)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Beneficiario final e cruzamento de cadastros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Visita / geolocalizacao do EC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Web crawling e content matching do site do EC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Modelos de ML para outliers de volume/MCC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de rede (devices, IP, conta de credito)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chargeback e refund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Desvio do ticket medio vs. peer group do MCC (&gt; X desvios-padrao).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Mismatch entre conteudo do site e MCC declarado.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Compartilhamento de IP/conta de liquidacao entre &gt;=N MIDs.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Crescimento de volume &gt; X% em &lt;30 dias pos-onboarding.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Bust-out e Fraude de Chargeback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Estabelecimento e credenciado com perfil aparentemente normal e, apos construir historico, infla subitamente o volume com transacoes fraudulentas (cartoes roubados, vendas ficticias ou autocompras) e desaparece antes da liquidacao ou da janela de contestacao, deixando prejuizo de chargeback e recebiveis ja sacados/antecipados.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Onboarding
'limpo'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Historico
normal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Pico subito
de vendas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Cash-out e
desaparece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usa antecipacao de recebiveis para sacar antes do chargeback.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Autocompras com cartoes proprios/laranjas para gerar liquidez.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Marketplace/subadquirente com reserva financeira insuficiente.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Troca de conta bancaria de liquidacao as vesperas do cash-out.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Padrao recorrente em adquirentes globais ('merchant bust-out'): ECs de e-commerce geram milhoes em vendas ficticias em dias, antecipam recebiveis e encerram operacao, transferindo o prejuizo de chargeback para o adquirente/subadquirente.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Aumento abrupto de faturamento sem sazonalidade que o justifique.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Alta taxa de chargeback/contestacao (acima do limite das bandeiras).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Concentracao de transacoes em poucos cartoes ou BINs.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Pedido de antecipacao total logo apos pico de vendas.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Alteracao de dados bancarios proxima a saques relevantes.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Reserva financeira / rolling reserve por risco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Limites de processamento por fase de maturidade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Re-KYC ao alterar conta de liquidacao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Score de risco no onboarding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chargeback ratio em tempo quase real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Velocity de transacoes e de cartoes distintos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Alertas de mudanca de comportamento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Hold de liquidacao por regra de risco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Chargeback ratio &gt; 0,9% ou contagem &gt; limiar da bandeira.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Crescimento de volume diario &gt; X% vs. media movel de 30d.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Antecipacao &gt;= Y% do volume em janela de Z dias.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Mudanca de conta bancaria + pico de vendas em 72h.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MCC Miscoding e Factoring (Processamento de Terceiros)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Manipulacao do Merchant Category Code para mascarar a verdadeira atividade economica (ex.: apostas/cripto/adulto classificados como varejo), e factoring/4-party processing, em que um EC processa transacoes de outro nao habilitado, contornando regras de bandeira e a ABR da adquirente.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Atividade real
de alto risco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Cadastro com
MCC 'limpo'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Processa via
MID de terceiro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Evita controles
e regras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declara MCC de baixo risco para escapar de DDR e limites.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Factoring: lojista 'aluga' MID para negocio nao credenciado.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Subadquirente agrega ramos distintos sob um unico MCC.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Split de MCC para diluir verticais proibidas pela adquirente.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Operadoras de apostas e cripto sem licenca recorrentemente se cadastram como varejo/servicos genericos para acessar a rede; programas BRAM/VIRP multam adquirentes que falham em detectar miscoding e transaction laundering.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Produtos/site incompativeis com o MCC declarado.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Tickets, sazonalidade e chargeback tipicos de outro ramo.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Mesma razao social/BF operando varios MCCs.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MCC de alto risco logo apos recodificacao recente.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Descricao do soft descriptor divergente do MCC.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Validacao de MCC contra atividade e CNAE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KYB com verificacao de site e produto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Regras de bandeira (BRAM/VIRP) embutidas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Aprovacao reforcada para troca de MCC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Reclassificacao automatica por perfil transacional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Comparacao MCC vs. peer behavior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soft descriptor inconsistente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Alertas de mudanca de MCC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MCC declarado vs. MCC inferido por ML diverge (flag).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Padrao de chargeback/ticket tipico de MCC de risco.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Troca de MCC para vertical sensivel &lt; 90d.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BF/CNPJ raiz associado a MCC de alto risco em outro 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Structuring / Smurfing em Ambiente de POS e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Fracionamento deliberado de valores em multiplas transacoes de menor porte (em um ou varios EC, cartoes, terminais ou dias) para permanecer abaixo de thresholds regulatorios e de monitoramento, dificultando a deteccao e a comunicacao de operacoes ao COAF.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Recurso de
origem ilicita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Fracionamento
em N transacoes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Multiplos POS
/ cartoes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Recebiveis
consolidados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Multiplas compras logo abaixo de limites de alerta/comunicacao.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Uso de varios cartoes/portadores no mesmo EC (cash-in).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Distribuicao do volume entre terminais e dias.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Subadquirente concentra recebiveis fracionados de varios sellers.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Tipologia classica destacada pelo COAF/FATF: valores fracionados logo abaixo dos limites de comunicacao para evitar STR, adaptada ao ambiente de adquirencia por meio de multiplos terminais, cartoes e sellers de subadquirentes.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Sequencia de transacoes em valores 'redondos' logo abaixo de thresholds.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Repeticao de tickets quase identicos em curto intervalo.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Muitos cartoes distintos para o mesmo EC em janela curta.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Cancelamentos/estornos parciais que reconfiguram valores.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Padrao 24/7 incompativel com horario comercial.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Definicao de thresholds dinamicos por perfil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KYC do portador em canais aplicaveis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Limites por terminal e por ciclo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Politica de agregacao por BF/CNPJ raiz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Agregacao de valores por janela movel (dia/semana)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padroes just-below-threshold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Velocity por EC, terminal e cartao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comportamental de series temporais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Soma diaria por EC &gt;= R$ X via N+ transacoes individuais &lt; limiar.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K+ transacoes em [limiar-10%, limiar] na mesma janela.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M+ cartoes distintos por EC/dia acima do baseline.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Indice de fracionamento (n. txn / valor medio) anomalo.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Merchants Fantasma, Laranjas e Beneficiario Final Oculto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Constituicao de EC de fachada (shell merchants) ou uso de interpostas pessoas (laranjas) cujo beneficiario final real esta oculto, com a finalidade de injetar e movimentar recursos ilicitos, frequentemente combinada a contas de passagem e laranjas no fluxo de liquidacao.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Empresa de
fachada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Laranja como
representante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Vendas ficticias
/ ilicitas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Liquidacao p/ BF
oculto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sem operacao real recebendo volume relevante de cartao.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Conta de liquidacao de titular diverso do EC.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Mesmo BF controlando uma teia de EC fantasmas.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Onboarding 100% digital sem verificacao fisica.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Esquemas de evasao e lavagem usam redes de empresas de fachada com socios laranjas para 'limpar' recursos via maquininhas; a quebra do sigilo do beneficiario final e o cruzamento de cadastros sao os principais vetores de deteccao.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Endereco inexistente, virtual ou compartilhado por varios EC.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Socios sem capacidade economica compativel (laranjas).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Documentacao societaria recente e generica.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Conta de liquidacao em nome de terceiro.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Ausencia de presenca digital/fisica verificavel.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KYB e identificacao do beneficiario final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Validacao cadastral e biometria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Geolocalizacao e visita ao estabelecimento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de socios e BF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de rede de BF/socios/contas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EC inativos com pico de volume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Cruzamento conta de liquidacao x titular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Verificacao de endereco e presenca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Conta de liquidacao com CPF/CNPJ != titular do EC.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N+ EC com mesmo BF, endereco, telefone ou IP.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ativo &lt; 90d com volume &gt; R$ X.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Socio com flag de laranja em base interna/externa.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Subadquirentes, Facilitadores e Marketplaces (Agregacao)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Modelos de PayFac, subadquirencia e marketplace agregam multiplos sellers sob um unico relacionamento com a adquirente, reduzindo a visibilidade do EC final. Sellers de baixa diligencia podem realizar transaction laundering, venda de produtos ilicitos e estruturacao sob o 'guarda-chuva' do agregador.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Adquirente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Subadquirente
/ PayFac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Marketplace
agrega sellers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Seller final
(opaco)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Subadquirente repassa risco sem KYB equivalente dos sellers.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Marketplace onboarda sellers com diligencia minima.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final invisivel a adquirente (nested merchants).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Liquidacao agregada dificulta rastrear o seller de risco.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FATF e as bandeiras alertam que PayFacs e marketplaces sao alvos preferenciais de transaction laundering por nested merchants; programas exigem que a adquirente garanta a diligencia e a visibilidade ('look-through') sobre o EC final.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Sub/marketplace sem politica de PLD ou KYC de seller fraca.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Crescimento explosivo de sellers em curto periodo.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Alta dispersao de MCC e geografias sob um unico CNPJ.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Chargeback e fraude concentrados em poucos sellers.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Recusa em fornecer dados do EC final (look-through).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Due diligence reforcada do subadquirente/PayFac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Exigencia contratual de KYC de seller e look-through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Avaliacao do programa de PLD do parceiro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Direito de auditoria e reporte de sellers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no nivel do seller (quando disponivel)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concentracao por sub/marketplace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nested/affiliated merchants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Acompanhamento de chargeback por parceiro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Seller individual com volume/chargeback acima de limiar.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Sub/marketplace com taxa de fraude agregada &gt; X%.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Crescimento de sellers &gt; Y% sem reforco de KYB.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Sellers compartilhando IP/conta entre marketplaces.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Front Companies de Alto Risco (Apostas, Cripto e Investimentos)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Empresas de fachada ou disfarcadas que canalizam, via adquirencia, receitas de atividades de alto risco ou ilegais no Brasil: apostas/jogos nao autorizados, exchanges de cripto irregulares, esquemas de piramide/Ponzi e conteudo adulto, frequentemente combinadas a MCC miscoding e gateways offshore.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Atividade de
alto risco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Front company
/ MCC mascarado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Captura via
gateway/PSP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Liquidacao e
cross-border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Operacao de apostas/cripto sem licenca processada como varejo.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Esquemas de investimento captando via cartao de credito.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Gateways e PSP intermediando fluxo para offshore.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Liquidacao cross-border para jurisdicoes de risco.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Investigacoes recentes no Brasil ('bets' e pirâmides) revelaram operadores ilegais captando via maquininhas e gateways sob MCC de varejo; a checagem de licenca e a deteccao de descriptor/URL sao controles decisivos.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MCC/CNAE incompativel com indicios de apostas/cripto/investimento.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Soft descriptor com termos de jogo, 'bet', 'invest', 'crypto'.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Reembolsos/ganhos pagos a portadores (payout) atipicos.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Tickets altos e recorrentes de captacao de 'investidores'.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Concentracao de fluxo para gateways/contas no exterior.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KYB setorial e checagem de licenca/autorizacao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Politica de aceitacao por vertical de risco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DDR para apostas, cripto e investimentos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de sancoes e midia adversa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palavras-chave em descriptor/site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payouts e fluxo bidirecional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de exposicao cross-border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reputacao/midia negativa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Soft descriptor/URL com termos de aposta/cripto/investimento.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Razao txn de payout/credito atipica para o MCC.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Fluxo cross-border &gt; X% para jurisdicao de risco.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vinculado a alerta de midia adversa ou de regulador.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Financiamento do Terrorismo (FT)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Uso da infraestrutura de pagamentos para arrecadar, movimentar ou disponibilizar recursos a individuos/organizacoes terroristas. Caracteriza-se por baixos valores, possivel origem licita dos fundos, captacao difusa (crowdfunding, doacoes), uso de NPO de fachada e contas-funil, exigindo screening de sancoes e nexo com listas do CSNU.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Captacao
(doacoes/vendas)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EC/NPO de
fachada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Contas-funil
de agregacao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Repasse a
beneficiario alvo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ou ONG de fachada arrecadando 'doacoes' via cartao.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Crowdfunding/venda de itens simbolicos como captacao.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Contas-funil concentrando microdoacoes pulverizadas.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Repasse cross-border para jurisdicoes de conflito.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FATF destaca que o FT envolve valores baixos e fundos por vezes licitos, o que torna o screening de sancoes e a analise de nexo (geografia, contraparte, NPO) mais relevantes que limiares de valor; comunicacao ao COAF independe de montante.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EC vinculado a pessoa/entidade em listas de sancoes (match).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Doacoes pulverizadas de muitas origens para um mesmo EC.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Nexo geografico com zonas de conflito/jurisdicoes de risco.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ONG sem transparencia de finalidade e destino dos recursos.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Baixos valores recorrentes com beneficiario final sensivel.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de sancoes (CSNU/OFAC/UE) no onboarding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Identificacao de BF e finalidade de ONG/NPO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DDR para entidades sem fins lucrativos de risco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Bloqueio imediato (Lei 13.810/2019)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continuo contra listas atualizadas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microdoacoes e crowdfunding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de exposicao geografica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contas-funil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Match de EC/BF/contraparte com listas de sancoes (qualquer valor).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N+ doacoes pulverizadas para EC/ONG em janela curta.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Transacoes com nexo a jurisdicao de conflito.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Beneficiario/keyword em watchlist de 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TIPOLOGIA T9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FPADM e Evasao de Sancoes (Proliferacao)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74920" cy="118872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50749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1. Descricao da tipologia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764792"/>
            <a:ext cx="4818888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A3A3A"/>
                </a:solidFill>
                <a:latin typeface="Calibri"/>
              </a:rPr>
              <a:t>Financiamento da Proliferacao de Armas de Destruicao em Massa envolve burlar sancoes do CSNU para obter bens, tecnologia e financiamento ligados a programas nucleares, quimicos, biologicos e de misseis. No contexto de adquirencia, materializa-se por evasao de sancoes, dual-use goods e ocultacao de contrapartes/jurisdicoes sancionadas via cartoes e gateways.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5074920" cy="13258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0749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06040"/>
            <a:ext cx="4892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2. Fluxo operacional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Comprador/EC
vinculado a alvo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737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Ocultacao de
contraparte/pais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3108960"/>
            <a:ext cx="994410" cy="65836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Compra de bens
dual-use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4830" y="3108960"/>
            <a:ext cx="994410" cy="658368"/>
          </a:xfrm>
          <a:prstGeom prst="round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Pagamento via
cartao/gateway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178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80510.0" y="3438144.0"/>
            <a:ext cx="274320.0" cy="0.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005072"/>
            <a:ext cx="5074920" cy="1444752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5074920" cy="384048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05072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3. Como a adquirente pode ser utilizada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" y="4443984"/>
            <a:ext cx="4818888" cy="9326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EC ou comprador vinculado a entidade/pais sancionado.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Aquisicao de bens dual-use mascarada por MCC generico.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Trade-based: super/subfaturamento em transacoes de cartao.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Gateways e intermediarios ocultando jurisdicao real.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2976"/>
            <a:ext cx="5074920" cy="859536"/>
          </a:xfrm>
          <a:prstGeom prst="rect">
            <a:avLst/>
          </a:prstGeom>
          <a:solidFill>
            <a:srgbClr val="ECF6F0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2976"/>
            <a:ext cx="5074920" cy="384048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5522976"/>
            <a:ext cx="4855464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8. Exemplo pratico (observado no setor)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5961888"/>
            <a:ext cx="4818888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3A3A3A"/>
                </a:solidFill>
                <a:latin typeface="Calibri"/>
              </a:rPr>
              <a:t>Reports do FATF e da ONU mostram uso de empresas de fachada e intermediarios em terceiros paises para burlar sancoes a programas de ADM; a indisponibilidade imediata de ativos (Lei 13.810/2019) e mandatoria ao identificar match com listas.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325880"/>
            <a:ext cx="6144768" cy="1417320"/>
          </a:xfrm>
          <a:prstGeom prst="rect">
            <a:avLst/>
          </a:prstGeom>
          <a:solidFill>
            <a:srgbClr val="FBECEA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1325880"/>
            <a:ext cx="6144768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132588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4. Indicadores de alerta (red flags)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1764792"/>
            <a:ext cx="5888736" cy="9052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Match com listas de proliferacao/sancoes (CSNU/OFAC).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Nexo com jurisdicoes de proliferacao (alto risco).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Mercadorias dual-use ou de controle de exportacao.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Estruturas societarias opacas e intermediarios em offshore.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 b="1">
                <a:solidFill>
                  <a:srgbClr val="C0392B"/>
                </a:solidFill>
                <a:latin typeface="Calibri"/>
              </a:rPr>
              <a:t>• </a:t>
            </a:r>
            <a:r>
              <a:rPr sz="960" b="0">
                <a:solidFill>
                  <a:srgbClr val="3A3A3A"/>
                </a:solidFill>
                <a:latin typeface="Calibri"/>
              </a:rPr>
              <a:t>Inconsistencia entre valor, mercadoria e rota de pagamento.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23560" y="2834640"/>
            <a:ext cx="2980944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5. Controles preventivos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1576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de sancoes e listas de proliferacao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Identificacao de BF e estrutura societaria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Triagem geografica de jurisdicoes alvo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Bloqueio/indisponibilidade imediata de ativos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87384" y="2834640"/>
            <a:ext cx="2980944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2834640"/>
            <a:ext cx="2980944" cy="384048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7112" y="2834640"/>
            <a:ext cx="2761488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 Controles detectivos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273552"/>
            <a:ext cx="2724912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Screening continuo e por contraparte cross-border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Deteccao de dual-use goods por descriptor/produto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Analise de trade-based (over/under-invoicing)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19" b="1">
                <a:solidFill>
                  <a:srgbClr val="2E75B6"/>
                </a:solidFill>
                <a:latin typeface="Calibri"/>
              </a:rPr>
              <a:t>• </a:t>
            </a:r>
            <a:r>
              <a:rPr sz="919" b="0">
                <a:solidFill>
                  <a:srgbClr val="3A3A3A"/>
                </a:solidFill>
                <a:latin typeface="Calibri"/>
              </a:rPr>
              <a:t>Monitoramento de jurisdicoes sancionadas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4480560"/>
            <a:ext cx="6144768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4480560"/>
            <a:ext cx="6144768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480560"/>
            <a:ext cx="592531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7. Regras de monitoramento sugeridas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1576" y="4919472"/>
            <a:ext cx="5888736" cy="10424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Match de EC/BF/contraparte com listas de proliferacao.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Transacao com nexo a jurisdicao alvo (qualquer valor).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Descriptor/produto associado a bens dual-use.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940" b="1">
                <a:solidFill>
                  <a:srgbClr val="2E75B6"/>
                </a:solidFill>
                <a:latin typeface="Calibri"/>
              </a:rPr>
              <a:t>• </a:t>
            </a:r>
            <a:r>
              <a:rPr sz="940" b="0">
                <a:solidFill>
                  <a:srgbClr val="3A3A3A"/>
                </a:solidFill>
                <a:latin typeface="Calibri"/>
              </a:rPr>
              <a:t>Desvio de preco vs. referencia (indicio de mis-invoicing).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201168" cy="1554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A90D2"/>
                </a:solidFill>
                <a:latin typeface="Calibri"/>
              </a:rPr>
              <a:t>SECAO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Monitoramento Transacional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Cenarios, logica analitica, fontes de dados, frequencia, thresholds e priorizacao de risco por tipologia - base para a esteira de alertas da adquirente.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200400" cy="457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MONITORAMENTO TRANSACIONAL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Cenarios de Monitoramento - Tipologias T1 a T4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325880"/>
          <a:ext cx="11384279" cy="41696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6000"/>
                <a:gridCol w="3108960"/>
                <a:gridCol w="1874519"/>
                <a:gridCol w="868680"/>
                <a:gridCol w="237744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Tipologia / Cenario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Logica analitica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Fonte de dados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Freq.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Threshold sugerido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Prior.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T1 Transaction Laundering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Outlier de volume/ticket vs. peer group do MCC; mismatch site x MCC; content matching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Autorizacao, cadastro EC, crawling de site, MCC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Diaria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Desvio &gt; 3 sigma do MCC ou mismatch de conteudo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T2 Bust-out / Chargeback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Spike de volume vs. media movel 30d + chargeback ratio + antecipacao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Autorizacao, chargeback, antecipacao, cadastro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Tempo real / Diaria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Volume +X% e CB &gt; 0,9% ou antecip. &gt;= Y%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T3 MCC Miscoding / Factoring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MCC declarado vs. MCC inferido por ML; descriptor inconsistente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Cadastro EC, MCC, soft descriptor, transacoes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Semanal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Divergencia MCC declarado x inferido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T4 Structuring / Smurfing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Agregacao por janela movel; deteccao just-below-threshold; velocity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Autorizacao, terminal, cartao (BIN/token)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Diaria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Soma &gt;= R$ X via N+ txn &lt; limiar de comunicacao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MONITORAMENTO TRANSACIONAL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Cenarios de Monitoramento - Tipologias T5 a T9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325880"/>
          <a:ext cx="11384279" cy="4328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6000"/>
                <a:gridCol w="3108960"/>
                <a:gridCol w="1874519"/>
                <a:gridCol w="868680"/>
                <a:gridCol w="237744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Tipologia / Cenario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Logica analitica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Fonte de dados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Freq.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Threshold sugerido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Prior.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T5 Merchants Fantasma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Cruzamento conta de liquidacao x titular; analise de rede de BF/IP/endereco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Cadastro, BF, conta liquidacao, KYC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Diaria / no onboarding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Conta != titular ou N+ EC mesmo BF/IP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T6 Sub / Marketplaces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Concentracao por parceiro; nested merchants; chargeback agregado por seller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Cadastro sub, dados de seller, liquidacao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Diaria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Fraude agregada &gt; X% ou seller &gt; limiar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T7 Front Companies Risco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Keyword em descriptor/URL; razao de payout; exposicao cross-border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Descriptor, URL, payouts, fluxo internacional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Diaria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Keyword de risco ou payout/cross-border &gt; X%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98A1B"/>
                          </a:solidFill>
                        </a:rPr>
                        <a:t>Alta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T8 Financiamento Terrorismo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Screening de sancoes; microdoacoes pulverizadas; nexo geografico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Listas CSNU/OFAC/UE, transacoes, geolocalizacao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Tempo real / continuo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Match em lista (qualquer valor) ou N+ doacoes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54864" marR="54864" marT="18288" marB="18288" anchor="ctr">
                    <a:solidFill>
                      <a:srgbClr val="EAF2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b="1">
                          <a:solidFill>
                            <a:srgbClr val="1F4E79"/>
                          </a:solidFill>
                        </a:rPr>
                        <a:t>T9 FPADM / Sancoes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Screening de proliferacao; dual-use; jurisdicoes alvo; mis-invoicing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Listas de sancoes, contraparte, produto, rota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Tempo real / continuo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3A3A3A"/>
                          </a:solidFill>
                          <a:latin typeface="Calibri"/>
                        </a:rPr>
                        <a:t>Match em lista ou nexo a jurisdicao alvo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C0392B"/>
                          </a:solidFill>
                        </a:rPr>
                        <a:t>Critica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201168" cy="1554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A90D2"/>
                </a:solidFill>
                <a:latin typeface="Calibri"/>
              </a:rPr>
              <a:t>SECAO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Arquitetura de 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Linhas de defesa preventivas e detectivas calibradas pela Abordagem Baseada em Risco para o ciclo de vida do estabelecimento comercial.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200400" cy="4572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CONTROLES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Controles Preventivos (Antes / Onboarding e Reavaliacao)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32588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01368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Know Your Customer: identificacao e verificacao do cliente/portador, com validacao documental e biometria nos canais aplicaveis.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325880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325880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2588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KYB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801368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Know Your Business: identificacao do EC, atividade real, CNAE/MCC, site, produto e capacidade operacional.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325880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325880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32588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Beneficiario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801368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Identificacao da cadeia societaria ate a pessoa natural que controla o EC; quebra de estruturas opacas.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999232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999232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2999232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Screening de Sancoes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Triagem contra listas CSNU, OFAC, UE e UK no onboarding e de forma continua; bloqueio imediato em caso de match.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2999232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3672" y="2999232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999232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Screening PEP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474720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Identificacao de Pessoas Expostas Politicamente e relacionados, com aprovacao em alcada superior e DDR.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4" y="2999232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2999232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2999232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Due Diligence Reforcada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3474720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DDR para EC/parceiros de alto risco (apostas, cripto, NPO, cross-border) com aprovacao e monitoramento intensificados.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672584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672584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4672584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Validacao Cadastral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48072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Conferencia de CNPJ, situacao na Receita, conta de liquidacao x titular, telefone, e-mail e endereco.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3672" y="4672584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33672" y="4672584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672584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Geolocalizacao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5148072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Validacao de localizacao do EC/terminal e coerencia com a atividade declarada e o padrao transacional.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5864" y="4672584"/>
            <a:ext cx="3703320" cy="1554480"/>
          </a:xfrm>
          <a:prstGeom prst="rect">
            <a:avLst/>
          </a:prstGeom>
          <a:solidFill>
            <a:srgbClr val="EAF2FB"/>
          </a:solidFill>
          <a:ln w="9525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55864" y="4672584"/>
            <a:ext cx="3703320" cy="4114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4672584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Visita ao Estabelecimento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5148072"/>
            <a:ext cx="34290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3A3A"/>
                </a:solidFill>
                <a:latin typeface="Calibri"/>
              </a:rPr>
              <a:t>Verificacao fisica (presencial ou remota) para EC de risco e mystery shopping para confirmar a operacao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CONTROLES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Controles Detectivos (Durante / Monitoramento Continuo)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37160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Monitoramento Transacional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Esteira de regras e cenarios sobre autorizacao, captura e liquidacao para gerar, selecionar e analisar alertas (Circular 3.978).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3716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3672" y="137160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78308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37160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92024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Modelos supervisionados e nao supervisionados para deteccao de anomalias, scoring de risco e reducao de falsos positivos.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37160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137160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5864" y="178308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137160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Analise Comportamental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2024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Perfilizacao do EC e deteccao de desvios do baseline (volume, ticket, sazonalidade, mix de cartoes).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49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74904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16052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374904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Monitoramento de Chargeback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Acompanhamento de chargeback/fraude ratio vs. limites de bandeira; sinal antecedente de bust-out e laundering.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2" y="3749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374904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33672" y="416052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74904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Monitoramento de Concentracao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429768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Concentracao de volume por cartao, BIN, terminal, BF, conta de liquidacao, sub/marketplace e geografia.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55864" y="374904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5864" y="3749040"/>
            <a:ext cx="3703320" cy="41148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5864" y="4160520"/>
            <a:ext cx="3703320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5592" y="3749040"/>
            <a:ext cx="35204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Monitoramento de Liquidacao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4297680"/>
            <a:ext cx="34290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3A3A3A"/>
                </a:solidFill>
                <a:latin typeface="Calibri"/>
              </a:rPr>
              <a:t>Reservas, antecipacao de recebiveis, conta de destino x titular e holds de risco antes do cash-out.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"/>
            <a:ext cx="1078992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6E4F0"/>
                </a:solidFill>
                <a:latin typeface="Calibri"/>
              </a:rPr>
              <a:t>CONCLUSAO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Recomendacoes de Mitigacao e Proximos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0"/>
            <a:ext cx="8229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4A90D2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09CAC"/>
                </a:solidFill>
                <a:latin typeface="Calibri"/>
              </a:rPr>
              <a:t>PLD/FT/FPADM  |  Adquirencia  |  Documento confidencial - uso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75B6"/>
                </a:solidFill>
                <a:latin typeface="Calibr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84280" cy="676656"/>
          </a:xfrm>
          <a:prstGeom prst="rect">
            <a:avLst/>
          </a:prstGeom>
          <a:solidFill>
            <a:srgbClr val="EAF2FB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109728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17320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Fortalecer KYB e look-through em PayFac/marketplaces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Exigir contratualmente KYC de seller, visibilidade do EC final e avaliacao do programa de PLD dos parceiros.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1554480"/>
            <a:ext cx="123444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21408"/>
            <a:ext cx="11384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121408"/>
            <a:ext cx="109728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23113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31136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167128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Implementar deteccao de transaction laundering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Web crawling, content matching e modelos de MCC inferido vs. declarado, com mystery shopping para EC de risco.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2304288"/>
            <a:ext cx="123444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71216"/>
            <a:ext cx="11384280" cy="676656"/>
          </a:xfrm>
          <a:prstGeom prst="rect">
            <a:avLst/>
          </a:prstGeom>
          <a:solidFill>
            <a:srgbClr val="EAF2FB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871216"/>
            <a:ext cx="109728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80944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916936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Screening de sancoes continuo (FT/FPADM)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Cobertura CSNU/OFAC/UE/UK no onboarding e em tempo real, com processo de bloqueio imediato (Lei 13.810/2019).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3054096"/>
            <a:ext cx="123444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21024"/>
            <a:ext cx="11384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621024"/>
            <a:ext cx="109728" cy="676656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666744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Calibrar esteira de monitoramento por risco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Thresholds dinamicos, agregacao por BF/CNPJ raiz e cenarios por tipologia; governanca de tuning e backtesting.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8440" y="3803904"/>
            <a:ext cx="123444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370832"/>
            <a:ext cx="11384280" cy="676656"/>
          </a:xfrm>
          <a:prstGeom prst="rect">
            <a:avLst/>
          </a:prstGeom>
          <a:solidFill>
            <a:srgbClr val="EAF2FB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370832"/>
            <a:ext cx="109728" cy="676656"/>
          </a:xfrm>
          <a:prstGeom prst="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16552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Reforcar controles de liquidacao e chargeback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Rolling reserve por risco, re-KYC em troca de conta, holds e monitoramento de chargeback ratio em tempo quase real.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4553712"/>
            <a:ext cx="1234440" cy="310896"/>
          </a:xfrm>
          <a:prstGeom prst="roundRect">
            <a:avLst/>
          </a:prstGeom>
          <a:solidFill>
            <a:srgbClr val="C9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120640"/>
            <a:ext cx="11384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120640"/>
            <a:ext cx="109728" cy="6766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3036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166360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Maturar analytics (ML e analise de rede)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Modelos de anomalia, link analysis de BF/IP/conta e reducao de falsos positivos com explicabilidade para auditoria.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40" y="5303520"/>
            <a:ext cx="1234440" cy="310896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870448"/>
            <a:ext cx="11384280" cy="676656"/>
          </a:xfrm>
          <a:prstGeom prst="rect">
            <a:avLst/>
          </a:prstGeom>
          <a:solidFill>
            <a:srgbClr val="EAF2FB"/>
          </a:solidFill>
          <a:ln w="635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870448"/>
            <a:ext cx="109728" cy="67665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0080" y="598017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980176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916168"/>
            <a:ext cx="8778240" cy="58521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Governanca, AIR e cultura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3A3A"/>
                </a:solidFill>
                <a:latin typeface="Calibri"/>
              </a:rPr>
              <a:t>Avaliacao Interna de Risco periodica, indicadores de efetividade, treinamento e reporte tempestivo ao COAF.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78440" y="6053328"/>
            <a:ext cx="1234440" cy="310896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91440" cy="6858000"/>
          </a:xfrm>
          <a:prstGeom prst="rect">
            <a:avLst/>
          </a:prstGeom>
          <a:solidFill>
            <a:srgbClr val="4A9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8503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A90D2"/>
                </a:solidFill>
                <a:latin typeface="Calibri"/>
              </a:rPr>
              <a:t>Sintese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adquirencia concentra pontos criticos de exposicao a LD/FT/FPADM:
onboarding, agregacao (sub/marketplace), classificacao de MCC e liquidacao.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85039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6E4F0"/>
                </a:solidFill>
                <a:latin typeface="Calibri"/>
              </a:rPr>
              <a:t>A mitigacao efetiva combina controles preventivos robustos (KYC/KYB, beneficiario final, screening de sancoes/PEP, DDR e validacao cadastral) com controles detectivos analiticos (monitoramento transacional, ML, analise de rede, chargeback, concentracao e liquidacao), sob uma Abordagem Baseada em Risco alinhada a Circular BCB 3.978/2020 e as recomendacoes do GAFI/FATF.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8503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AB4CE"/>
                </a:solidFill>
                <a:latin typeface="Calibri"/>
              </a:rPr>
              <a:t>Documento confidencial - uso interno  |  Compliance, Riscos e PLD/FT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